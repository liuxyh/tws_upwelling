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6"/>
  </p:notesMasterIdLst>
  <p:sldIdLst>
    <p:sldId id="1865" r:id="rId3"/>
    <p:sldId id="1863" r:id="rId4"/>
    <p:sldId id="1864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2060"/>
    <a:srgbClr val="B11D42"/>
    <a:srgbClr val="B2132D"/>
    <a:srgbClr val="3135A7"/>
    <a:srgbClr val="005BAC"/>
    <a:srgbClr val="B1EE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85375" autoAdjust="0"/>
  </p:normalViewPr>
  <p:slideViewPr>
    <p:cSldViewPr snapToGrid="0">
      <p:cViewPr varScale="1">
        <p:scale>
          <a:sx n="60" d="100"/>
          <a:sy n="60" d="100"/>
        </p:scale>
        <p:origin x="1011" y="54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55980-4CC5-4A90-B48B-603AA7F6F9B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8A7D5-70E0-42AE-B001-9A8DB14166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590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2C031-1836-1F6C-ED31-090DF1FFF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B71A60-CB4B-2E14-DCCC-FEAB8E881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5EDBD0-281E-0ADB-7A74-D5ED1C7E2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3A9FB6-34E3-9F55-2E7F-148A2BAD2D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E3E89-B4F3-43F3-BCC3-855D1A4C6C6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278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FFDD4-CFC7-BAB8-4487-BC5F7C1AB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D6B7CC-C762-F7D2-2F71-935813D63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C62091-0238-10A7-C1BE-D7E8D5512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EBF473-5F4E-E7FB-6607-DE66288355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E3E89-B4F3-43F3-BCC3-855D1A4C6C6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777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585CA-2A49-9AB5-055A-A9A4544F3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63FE3A-FC30-904C-B271-44B5106A9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C37758-D61B-312D-90E5-2375876E4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D4A4B5-C98B-0913-AC76-716966292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E3E89-B4F3-43F3-BCC3-855D1A4C6C6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967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C3512E-C188-4381-A69D-1F32CF4F9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CA9BBA-624C-4A48-9EAD-8745FF58D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4ED954-A8E8-4CC1-B94D-6F32F25C0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FBFCE-0244-4AFD-BE74-BF52FBA62265}" type="datetime1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E701A5-6BAB-469C-A659-2AAB58D9D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354BFE-C81A-4AE6-BD4C-82B49DBE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A82F5-348D-4346-9A95-A89EC6B42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846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FA098F-93D9-415B-AF26-2F0C3E32F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408F9C-11A5-4DF5-888E-067CC950A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21CD98-51B4-4F81-8847-C55ABAB55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E0CE7-DBA0-4BE2-983A-D9CD60D91216}" type="datetime1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C9AA5E-D17F-47AB-87CC-62E1530C0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8AD445-1E18-45D6-A0A3-F22565DA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A82F5-348D-4346-9A95-A89EC6B42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866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3FCAE-EE2A-46ED-A3C6-2A0EB420D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74AB25-6861-45E1-B9E3-1F6930B8A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7C2A6-7ED5-410C-9DF0-2918A60A8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4884-79BF-444A-86C4-E6826A3C5557}" type="datetime1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F99B53-3306-4418-B47C-E8969DA8B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C2F735-2060-4F4E-9F5E-6CFA30141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A82F5-348D-4346-9A95-A89EC6B42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118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5301CD-7B64-4D69-95B5-C609BD12B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3116F1-C26F-4376-A636-0F96515CC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72EDD5-6002-4C29-8156-E2F5A496A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AA1CA6-C444-4505-AF08-07D3B8ACF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6C2C-5E83-4E43-8FFA-63E69BA10A0D}" type="datetime1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2D1402-43DB-4AE8-A0E6-4D2EE924F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627587-1A4E-479B-8CF9-675FA0C2B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A82F5-348D-4346-9A95-A89EC6B42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77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6FFDE-F933-427F-A113-990013A7A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7EC04E-3559-49E0-8E7F-C92779C0E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59BB62-C277-471B-AB41-6C12BDBA2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1174649-4D68-400F-9984-FE0195D628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1623F7-56E8-4102-AF32-622A58542D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AC0FF98-E90E-41A3-A6F9-B47A7D91D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19D2C-837B-4DE1-A85C-972C0AE6D502}" type="datetime1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5FA4575-60F1-4DF6-BC25-22D9C0724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9D9516-AC8C-47E0-9CD1-85E8E6CC4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A82F5-348D-4346-9A95-A89EC6B42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75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811C8F-1A7D-4A1C-A82E-C36D34DF9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E7707A9-2A1D-437E-8690-6A562A80B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80422-E181-4AB2-A900-1ACF213F7B36}" type="datetime1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A1CDA2-0955-4528-B6D6-1AB7BABE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206857-16D9-4531-AA24-084D8345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A82F5-348D-4346-9A95-A89EC6B42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589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2BD4F16-4B9F-499D-811F-ABF2B7F90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02D52-3AB2-4AFD-8D9B-6F10A47658E3}" type="datetime1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C2CB6C-ECF4-47F2-B1C1-8A0F75471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BAECFD-2955-4472-9C74-8E18CBD91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A82F5-348D-4346-9A95-A89EC6B42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368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72C374-4778-4AB5-900E-44058F429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175DBB-115C-47A5-9C01-AF9E58671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E75924-E024-40E3-A18E-A2B5D0F91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865A7A-EA35-49A3-9A29-97943A035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AFC9-B8ED-469A-A984-14160A84AFE6}" type="datetime1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81B67A-CC8C-43EB-8787-41E614952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DC12E3-7252-4D55-BA52-C18F9F17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A82F5-348D-4346-9A95-A89EC6B42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957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F16FB-D01C-460B-AD21-375266E72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608CE73-87B1-4746-A9C2-08408E0A46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DD1CCB-050F-4B39-8F6A-08E651A1AC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476E23-07B5-4B00-94FE-E3DAF5EFF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71D4E-D809-431D-A81C-3E4C258A319C}" type="datetime1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0D12A7-788E-472C-BC07-57637581F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65281A-AF0E-4EE9-A09F-2D70BB47F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A82F5-348D-4346-9A95-A89EC6B42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481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C7031-C9D2-4058-ACEC-FB50BFB4A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0EFFD3-8DCD-48A6-9BFF-FF3A4483E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27CF4-7012-4D1B-A7AD-6016264C1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C7D5E-5D2A-4C8E-8449-537B4F5A52A9}" type="datetime1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AF157E-47AD-4459-82B0-B1105353E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BA1848-8FE5-4368-B898-C6E03D7F4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A82F5-348D-4346-9A95-A89EC6B42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945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A4DC6E-771A-4B79-B13A-4F395B0F02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DD01E1-6703-451C-BD63-905C63A18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604EE6-B4B6-47FF-A4FD-020555577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9D1EE-744A-4FDE-AAFA-2D5CF5A7667B}" type="datetime1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1D8803-56A3-44DD-B070-B00228EDA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FFE683-A061-4C59-B50F-D3CC1276C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A82F5-348D-4346-9A95-A89EC6B42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556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9457" y="2780929"/>
            <a:ext cx="10242551" cy="791583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3666" y="4344989"/>
            <a:ext cx="10242551" cy="461665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6659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08000" y="1411552"/>
            <a:ext cx="11176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064418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412875"/>
            <a:ext cx="11176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131407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411553"/>
            <a:ext cx="5486400" cy="1742015"/>
          </a:xfrm>
        </p:spPr>
        <p:txBody>
          <a:bodyPr/>
          <a:lstStyle>
            <a:lvl1pPr marL="339976" indent="-339976">
              <a:lnSpc>
                <a:spcPct val="90000"/>
              </a:lnSpc>
              <a:defRPr sz="2800"/>
            </a:lvl1pPr>
            <a:lvl2pPr marL="673338" indent="-325424">
              <a:lnSpc>
                <a:spcPct val="90000"/>
              </a:lnSpc>
              <a:defRPr sz="2400"/>
            </a:lvl2pPr>
            <a:lvl3pPr marL="953785" indent="-288384">
              <a:lnSpc>
                <a:spcPct val="90000"/>
              </a:lnSpc>
              <a:defRPr sz="2000"/>
            </a:lvl3pPr>
            <a:lvl4pPr marL="1227618" indent="-273833">
              <a:lnSpc>
                <a:spcPct val="90000"/>
              </a:lnSpc>
              <a:defRPr sz="1800"/>
            </a:lvl4pPr>
            <a:lvl5pPr marL="1516002" indent="-280447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11553"/>
            <a:ext cx="5486400" cy="1742015"/>
          </a:xfrm>
        </p:spPr>
        <p:txBody>
          <a:bodyPr/>
          <a:lstStyle>
            <a:lvl1pPr marL="347914" indent="-347914">
              <a:lnSpc>
                <a:spcPct val="90000"/>
              </a:lnSpc>
              <a:defRPr sz="2800"/>
            </a:lvl1pPr>
            <a:lvl2pPr marL="673338" indent="-339976">
              <a:lnSpc>
                <a:spcPct val="90000"/>
              </a:lnSpc>
              <a:defRPr sz="2400"/>
            </a:lvl2pPr>
            <a:lvl3pPr marL="961722" indent="-302936">
              <a:lnSpc>
                <a:spcPct val="90000"/>
              </a:lnSpc>
              <a:defRPr sz="2000"/>
            </a:lvl3pPr>
            <a:lvl4pPr marL="1227618" indent="-265896">
              <a:lnSpc>
                <a:spcPct val="90000"/>
              </a:lnSpc>
              <a:defRPr sz="1800"/>
            </a:lvl4pPr>
            <a:lvl5pPr marL="1516002" indent="-273833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77403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57802"/>
            <a:ext cx="5486400" cy="346249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999" y="2174875"/>
            <a:ext cx="5486400" cy="1537344"/>
          </a:xfrm>
        </p:spPr>
        <p:txBody>
          <a:bodyPr/>
          <a:lstStyle>
            <a:lvl1pPr marL="281770" indent="-281770">
              <a:defRPr sz="2300"/>
            </a:lvl1pPr>
            <a:lvl2pPr marL="562218" indent="-265896">
              <a:defRPr sz="2000"/>
            </a:lvl2pPr>
            <a:lvl3pPr marL="813562" indent="-243407">
              <a:defRPr sz="1800"/>
            </a:lvl3pPr>
            <a:lvl4pPr marL="1050354" indent="-228856">
              <a:defRPr sz="1700"/>
            </a:lvl4pPr>
            <a:lvl5pPr marL="1279210" indent="-206367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642" y="1757802"/>
            <a:ext cx="5489359" cy="346249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490632" cy="1537344"/>
          </a:xfrm>
        </p:spPr>
        <p:txBody>
          <a:bodyPr/>
          <a:lstStyle>
            <a:lvl1pPr marL="296321" indent="-296321">
              <a:defRPr sz="2300"/>
            </a:lvl1pPr>
            <a:lvl2pPr marL="570155" indent="-273833">
              <a:defRPr sz="2000"/>
            </a:lvl2pPr>
            <a:lvl3pPr marL="821499" indent="-244730">
              <a:defRPr sz="1800"/>
            </a:lvl3pPr>
            <a:lvl4pPr marL="1050354" indent="-236793">
              <a:defRPr sz="1700"/>
            </a:lvl4pPr>
            <a:lvl5pPr marL="1279210" indent="-220919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19793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95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760246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36206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49859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21359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21359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55645285"/>
      </p:ext>
    </p:extLst>
  </p:cSld>
  <p:clrMapOvr>
    <a:masterClrMapping/>
  </p:clrMapOvr>
  <p:transition advTm="21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192AB6B-E0F4-4079-A90A-201613495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ADCC3F-7FFE-4F4D-A023-8C1C0FF6C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7998D7-AF08-47F1-AE1D-A4F21C97E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774C2-0D85-4651-9ED4-2B694EC14B56}" type="datetime1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E4B81-9864-442C-8DF6-5420C5FB8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D5DFF9-8E8D-4669-9979-D8C8C1BCD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A82F5-348D-4346-9A95-A89EC6B42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020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6746739" y="3938"/>
            <a:ext cx="5445261" cy="6858000"/>
            <a:chOff x="5060054" y="3938"/>
            <a:chExt cx="4083946" cy="6858000"/>
          </a:xfrm>
        </p:grpSpPr>
        <p:pic>
          <p:nvPicPr>
            <p:cNvPr id="5" name="图片 4"/>
            <p:cNvPicPr>
              <a:picLocks noChangeAspect="1"/>
            </p:cNvPicPr>
            <p:nvPr userDrawn="1"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060054" y="3938"/>
              <a:ext cx="4083946" cy="6858000"/>
            </a:xfrm>
            <a:prstGeom prst="rect">
              <a:avLst/>
            </a:prstGeom>
          </p:spPr>
        </p:pic>
        <p:cxnSp>
          <p:nvCxnSpPr>
            <p:cNvPr id="7" name="直接连接符 6"/>
            <p:cNvCxnSpPr>
              <a:stCxn id="5" idx="0"/>
              <a:endCxn id="5" idx="2"/>
            </p:cNvCxnSpPr>
            <p:nvPr userDrawn="1"/>
          </p:nvCxnSpPr>
          <p:spPr>
            <a:xfrm>
              <a:off x="7102027" y="3938"/>
              <a:ext cx="0" cy="6858000"/>
            </a:xfrm>
            <a:prstGeom prst="line">
              <a:avLst/>
            </a:prstGeom>
            <a:ln w="19050">
              <a:solidFill>
                <a:srgbClr val="FFFFFF">
                  <a:alpha val="14902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643" y="548680"/>
            <a:ext cx="7028160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412876"/>
            <a:ext cx="11176000" cy="213596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554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ransition>
    <p:fade/>
  </p:transition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lang="en-US" sz="3600" b="1" kern="1200" cap="none" spc="-150" dirty="0" smtClean="0">
          <a:ln w="3175">
            <a:noFill/>
          </a:ln>
          <a:solidFill>
            <a:srgbClr val="FFFF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 typeface="Wingdings" panose="05000000000000000000" pitchFamily="2" charset="2"/>
        <a:buChar char="l"/>
        <a:defRPr sz="32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 typeface="Wingdings" panose="05000000000000000000" pitchFamily="2" charset="2"/>
        <a:buChar char="l"/>
        <a:defRPr sz="28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 typeface="Wingdings" panose="05000000000000000000" pitchFamily="2" charset="2"/>
        <a:buChar char="l"/>
        <a:defRPr sz="24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 typeface="Wingdings" panose="05000000000000000000" pitchFamily="2" charset="2"/>
        <a:buChar char="l"/>
        <a:defRPr sz="24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 typeface="Wingdings" panose="05000000000000000000" pitchFamily="2" charset="2"/>
        <a:buChar char="l"/>
        <a:defRPr sz="24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83A5E-05DC-EF10-98F3-965589E47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97F273F-540F-22E0-0155-2EF243DE0F62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>
            <a:off x="0" y="494465"/>
            <a:ext cx="1217168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标题 1">
            <a:extLst>
              <a:ext uri="{FF2B5EF4-FFF2-40B4-BE49-F238E27FC236}">
                <a16:creationId xmlns:a16="http://schemas.microsoft.com/office/drawing/2014/main" id="{A5336078-CC3B-9A6B-DC96-793F1C1469BE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2069" y="94415"/>
            <a:ext cx="10551454" cy="400050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lt"/>
              </a:rPr>
              <a:t>水团聚类</a:t>
            </a:r>
            <a:endParaRPr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3B4622-BAA0-5E8A-BF76-AC0DCA3E976A}"/>
              </a:ext>
            </a:extLst>
          </p:cNvPr>
          <p:cNvSpPr txBox="1"/>
          <p:nvPr/>
        </p:nvSpPr>
        <p:spPr>
          <a:xfrm>
            <a:off x="379860" y="665060"/>
            <a:ext cx="11791820" cy="651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-2520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使用 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海表温度 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(SST)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、海表盐度 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(SSS)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、海表叶绿素 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en-US" altLang="zh-CN" sz="150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SSChla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)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、离岸距离 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en-US" altLang="zh-CN" sz="150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Distco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)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 进行聚类，可以得到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4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个聚类簇 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表示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4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种水团结构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)</a:t>
            </a:r>
          </a:p>
          <a:p>
            <a:pPr indent="-2520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其中叶绿素和离岸距离先</a:t>
            </a:r>
            <a:r>
              <a:rPr lang="en-US" altLang="zh-CN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log10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转化，然后所有变量再</a:t>
            </a:r>
            <a:r>
              <a:rPr lang="en-US" altLang="zh-CN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scale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标准化，进行</a:t>
            </a:r>
            <a:r>
              <a:rPr lang="en-US" altLang="zh-CN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word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最小方差聚类（见</a:t>
            </a:r>
            <a:r>
              <a:rPr lang="zh-CN" altLang="en-US" sz="15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代码“水团划分</a:t>
            </a:r>
            <a:r>
              <a:rPr lang="en-US" altLang="zh-CN" sz="15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.</a:t>
            </a:r>
            <a:r>
              <a:rPr lang="en-US" altLang="zh-CN" sz="1500" b="1" dirty="0" err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R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”）</a:t>
            </a:r>
            <a:endParaRPr lang="en-US" altLang="zh-CN" sz="15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B659A0-A3AA-4F2E-89E1-5D7A3B5A9E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0395" y="1487371"/>
            <a:ext cx="8107669" cy="346105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5BF4ACB-2BF0-90F9-C329-A7BA2F7E75B6}"/>
              </a:ext>
            </a:extLst>
          </p:cNvPr>
          <p:cNvSpPr txBox="1"/>
          <p:nvPr/>
        </p:nvSpPr>
        <p:spPr>
          <a:xfrm>
            <a:off x="189930" y="5073122"/>
            <a:ext cx="11791820" cy="16904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再结合这些站位在地理位置上的分布，可以这样划分：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  <a:p>
            <a:pPr indent="-2520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羽流水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（</a:t>
            </a:r>
            <a:r>
              <a:rPr lang="en-US" altLang="zh-CN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plume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）：主要位于闽江、九龙江和韩江等河口区，以低盐度的海水为特征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  <a:p>
            <a:pPr indent="-2520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5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上升流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（</a:t>
            </a:r>
            <a:r>
              <a:rPr lang="en-US" altLang="zh-CN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upwelling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）：主要位于东山、平潭、台湾浅滩这些经典上升流区，以低温高盐的海水为特征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  <a:p>
            <a:pPr indent="-2520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5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寡营养水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（</a:t>
            </a:r>
            <a:r>
              <a:rPr lang="en-US" altLang="zh-CN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oligo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）：主要位于台湾海峡外侧，远离陆地，以低叶绿素的寡营养水为特征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  <a:p>
            <a:pPr indent="-2520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5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混合水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（</a:t>
            </a:r>
            <a:r>
              <a:rPr lang="en-US" altLang="zh-CN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mixed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）：多出现于上述水团的过渡带，无突出环境特征，统一命名为混合水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9368B2A-D62F-1521-ABF9-9B88C4163B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9706" y="1487370"/>
            <a:ext cx="4048125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01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4CB6D-43EA-C733-4D6A-BE2CCC265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4CE3273-96B7-2036-33B7-1B67B0C81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646" y="3507189"/>
            <a:ext cx="4329219" cy="3299611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60D21B7-3790-91EA-BC92-1C59F8572B24}"/>
              </a:ext>
            </a:extLst>
          </p:cNvPr>
          <p:cNvCxnSpPr>
            <a:cxnSpLocks/>
          </p:cNvCxnSpPr>
          <p:nvPr/>
        </p:nvCxnSpPr>
        <p:spPr>
          <a:xfrm flipH="1">
            <a:off x="2787267" y="5628881"/>
            <a:ext cx="1782764" cy="44848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728EA14-C250-FC9C-078D-AFEDA4A03D00}"/>
              </a:ext>
            </a:extLst>
          </p:cNvPr>
          <p:cNvCxnSpPr>
            <a:cxnSpLocks/>
          </p:cNvCxnSpPr>
          <p:nvPr/>
        </p:nvCxnSpPr>
        <p:spPr>
          <a:xfrm flipH="1" flipV="1">
            <a:off x="2600491" y="4427621"/>
            <a:ext cx="3811801" cy="224898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BDC58E5E-D438-CF81-04F7-41BFF316CB8C}"/>
              </a:ext>
            </a:extLst>
          </p:cNvPr>
          <p:cNvSpPr txBox="1"/>
          <p:nvPr/>
        </p:nvSpPr>
        <p:spPr>
          <a:xfrm>
            <a:off x="52068" y="4061695"/>
            <a:ext cx="5103825" cy="18443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这</a:t>
            </a:r>
            <a:r>
              <a:rPr lang="en-US" altLang="zh-CN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6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个站位由于离岸太近了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spcAft>
                <a:spcPts val="1200"/>
              </a:spcAft>
              <a:buClr>
                <a:srgbClr val="FF0000"/>
              </a:buClr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和大多数河口羽流区的站位聚类在了一起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但是由于它们盐度相对河口的站位较高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且通常远离台湾海峡的常见河口（闽江、九龙江、韩江）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为避免错误，因此将这些站位剔除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EFA1CCC-BC7E-0571-D7D8-F52703BAF0CA}"/>
              </a:ext>
            </a:extLst>
          </p:cNvPr>
          <p:cNvSpPr txBox="1"/>
          <p:nvPr/>
        </p:nvSpPr>
        <p:spPr>
          <a:xfrm>
            <a:off x="7976157" y="3520960"/>
            <a:ext cx="6190812" cy="18443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这</a:t>
            </a:r>
            <a:r>
              <a:rPr lang="en-US" altLang="zh-CN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2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个站位由于温度较低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spcAft>
                <a:spcPts val="1200"/>
              </a:spcAft>
              <a:buClr>
                <a:srgbClr val="FF0000"/>
              </a:buClr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和上升流水聚类在了一起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但它们主要位于厦门湾外侧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并没有位于台湾海峡经典的上升流区域（东山、平潭、台湾浅滩）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为避免错误，因此将这些站位剔除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4AB7499-B229-BCEB-5224-99BD8323B9A8}"/>
              </a:ext>
            </a:extLst>
          </p:cNvPr>
          <p:cNvSpPr txBox="1"/>
          <p:nvPr/>
        </p:nvSpPr>
        <p:spPr>
          <a:xfrm>
            <a:off x="6603262" y="5806806"/>
            <a:ext cx="4342289" cy="651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这</a:t>
            </a:r>
            <a:r>
              <a:rPr lang="en-US" altLang="zh-CN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4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个站位太靠外海了，可能在台湾海峡区域之外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为避免错误，因此将这些站位剔除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A2AE24B-DEB6-A1B3-A516-FD484E91F848}"/>
              </a:ext>
            </a:extLst>
          </p:cNvPr>
          <p:cNvCxnSpPr>
            <a:cxnSpLocks/>
          </p:cNvCxnSpPr>
          <p:nvPr/>
        </p:nvCxnSpPr>
        <p:spPr>
          <a:xfrm flipV="1">
            <a:off x="6178462" y="4353073"/>
            <a:ext cx="1776610" cy="7506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93BD83BC-BC1D-D1E5-D5C7-5386CE6A4149}"/>
              </a:ext>
            </a:extLst>
          </p:cNvPr>
          <p:cNvCxnSpPr>
            <a:cxnSpLocks/>
          </p:cNvCxnSpPr>
          <p:nvPr/>
        </p:nvCxnSpPr>
        <p:spPr>
          <a:xfrm flipV="1">
            <a:off x="5839379" y="6117871"/>
            <a:ext cx="572913" cy="76152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FE6EB363-9423-448E-F9AF-F8B243195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2627"/>
            <a:ext cx="12192000" cy="296091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14E078E-2E79-DF50-A2CF-B911206F971B}"/>
              </a:ext>
            </a:extLst>
          </p:cNvPr>
          <p:cNvSpPr txBox="1"/>
          <p:nvPr/>
        </p:nvSpPr>
        <p:spPr>
          <a:xfrm>
            <a:off x="379860" y="60442"/>
            <a:ext cx="11791820" cy="3054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-2520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但是一些站位的划分有些模糊，为了避免争议，将它们剔除。这些站位在下图中用黑色表示了出来</a:t>
            </a:r>
            <a:endParaRPr lang="en-US" altLang="zh-CN" sz="15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29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9D587-5BAF-95BE-819B-8AE8A90A2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E321AB8-CF31-117E-EAC3-6E12C756DC8D}"/>
              </a:ext>
            </a:extLst>
          </p:cNvPr>
          <p:cNvSpPr txBox="1"/>
          <p:nvPr/>
        </p:nvSpPr>
        <p:spPr>
          <a:xfrm>
            <a:off x="173620" y="71396"/>
            <a:ext cx="11998060" cy="20367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-2520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剔除有争议的站位后，最终识别的水团结构如下，这些结构根据温盐叶绿素等水文特征、地理位置、过去文献报道等综合识别，可信度更高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  <a:p>
            <a:pPr indent="-2520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寡营养水：位于台湾海峡外侧，远离近岸，营养程度较低 </a:t>
            </a:r>
            <a:r>
              <a:rPr lang="en-US" altLang="zh-CN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叶绿素</a:t>
            </a:r>
            <a:r>
              <a:rPr lang="en-US" altLang="zh-CN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&lt;0.5 mg m</a:t>
            </a:r>
            <a:r>
              <a:rPr lang="en-US" altLang="zh-CN" sz="1500" b="1" baseline="300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−3</a:t>
            </a:r>
            <a:r>
              <a:rPr lang="en-US" altLang="zh-CN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)</a:t>
            </a:r>
          </a:p>
          <a:p>
            <a:pPr indent="-2520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羽流水：位于闽江、九龙江以及韩江入海口，受低盐河流冲淡水显著影响 </a:t>
            </a:r>
            <a:r>
              <a:rPr lang="en-US" altLang="zh-CN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盐度</a:t>
            </a:r>
            <a:r>
              <a:rPr lang="en-US" altLang="zh-CN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&lt;30)</a:t>
            </a:r>
          </a:p>
          <a:p>
            <a:pPr indent="-2520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上升流：位于台湾浅滩、东山及平潭近岸等经典上升流区，以相对的低温高盐为特征 </a:t>
            </a:r>
            <a:r>
              <a:rPr lang="en-US" altLang="zh-CN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温度平均低于周边水域</a:t>
            </a:r>
            <a:r>
              <a:rPr lang="en-US" altLang="zh-CN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1~2°C</a:t>
            </a: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，且盐度</a:t>
            </a:r>
            <a:r>
              <a:rPr lang="en-US" altLang="zh-CN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&gt;34)</a:t>
            </a:r>
          </a:p>
          <a:p>
            <a:pPr indent="-2520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5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混合水：多出现于上述水团的过渡带，表现出复合环境特征</a:t>
            </a:r>
            <a:endParaRPr lang="en-US" altLang="zh-CN" sz="15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  <a:p>
            <a:pPr indent="-2520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endParaRPr lang="en-US" altLang="zh-CN" sz="15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F3CE34D-7C50-27AD-0F09-2CA759263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84563"/>
            <a:ext cx="12192000" cy="39478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B1D277A-01C9-81BA-7D75-39581C965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713" y="1778539"/>
            <a:ext cx="1968177" cy="145793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EA91CF1-2578-273D-82E5-64ABD506237C}"/>
              </a:ext>
            </a:extLst>
          </p:cNvPr>
          <p:cNvSpPr txBox="1"/>
          <p:nvPr/>
        </p:nvSpPr>
        <p:spPr>
          <a:xfrm>
            <a:off x="9474776" y="2311152"/>
            <a:ext cx="183053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叶绿素的空间分布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5827FF-71FF-6829-4923-902D9E591906}"/>
              </a:ext>
            </a:extLst>
          </p:cNvPr>
          <p:cNvSpPr txBox="1"/>
          <p:nvPr/>
        </p:nvSpPr>
        <p:spPr>
          <a:xfrm>
            <a:off x="5472337" y="2311152"/>
            <a:ext cx="183053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盐度的空间分布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6CF0DAE-2577-AAEA-1596-852A1BE7800A}"/>
              </a:ext>
            </a:extLst>
          </p:cNvPr>
          <p:cNvSpPr txBox="1"/>
          <p:nvPr/>
        </p:nvSpPr>
        <p:spPr>
          <a:xfrm>
            <a:off x="532202" y="2311152"/>
            <a:ext cx="183053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温度的空间分布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A4250F6-627A-895A-C7FC-0242A2619457}"/>
              </a:ext>
            </a:extLst>
          </p:cNvPr>
          <p:cNvSpPr/>
          <p:nvPr/>
        </p:nvSpPr>
        <p:spPr>
          <a:xfrm>
            <a:off x="-251364" y="1912664"/>
            <a:ext cx="25573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(Tang et al., 2002; Zhang, 2021)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5693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ue Segoe 4-3 template-template_April-17-2007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 w="38100" cmpd="sng">
          <a:solidFill>
            <a:srgbClr val="00B0F0"/>
          </a:solidFill>
        </a:ln>
      </a:spPr>
      <a:bodyPr lIns="428838" tIns="54865" rIns="71121" bIns="1588293" spcCol="1270" anchor="ctr"/>
      <a:lstStyle>
        <a:defPPr defTabSz="711200">
          <a:lnSpc>
            <a:spcPct val="90000"/>
          </a:lnSpc>
          <a:spcAft>
            <a:spcPct val="35000"/>
          </a:spcAft>
          <a:defRPr sz="1600" dirty="0">
            <a:solidFill>
              <a:schemeClr val="bg1"/>
            </a:solidFill>
          </a:defRPr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25888</TotalTime>
  <Words>500</Words>
  <Application>Microsoft Office PowerPoint</Application>
  <PresentationFormat>宽屏</PresentationFormat>
  <Paragraphs>33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等线</vt:lpstr>
      <vt:lpstr>等线 Light</vt:lpstr>
      <vt:lpstr>微软雅黑</vt:lpstr>
      <vt:lpstr>Arial</vt:lpstr>
      <vt:lpstr>Times New Roman</vt:lpstr>
      <vt:lpstr>Wingdings</vt:lpstr>
      <vt:lpstr>Office 主题​​</vt:lpstr>
      <vt:lpstr>1_Blue Segoe 4-3 template-template_April-17-2007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Xiang Mingwang</dc:creator>
  <cp:lastModifiedBy>yao liu</cp:lastModifiedBy>
  <cp:revision>4879</cp:revision>
  <dcterms:created xsi:type="dcterms:W3CDTF">2020-10-05T05:22:13Z</dcterms:created>
  <dcterms:modified xsi:type="dcterms:W3CDTF">2026-06-18T02:34:11Z</dcterms:modified>
</cp:coreProperties>
</file>